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8" r:id="rId3"/>
    <p:sldId id="275" r:id="rId4"/>
    <p:sldId id="273" r:id="rId5"/>
    <p:sldId id="274" r:id="rId6"/>
    <p:sldId id="277" r:id="rId7"/>
    <p:sldId id="260" r:id="rId8"/>
    <p:sldId id="261" r:id="rId9"/>
    <p:sldId id="265" r:id="rId10"/>
    <p:sldId id="263" r:id="rId11"/>
    <p:sldId id="264" r:id="rId12"/>
    <p:sldId id="268" r:id="rId13"/>
    <p:sldId id="276" r:id="rId14"/>
    <p:sldId id="283" r:id="rId15"/>
    <p:sldId id="279" r:id="rId16"/>
    <p:sldId id="282" r:id="rId17"/>
    <p:sldId id="280" r:id="rId18"/>
    <p:sldId id="281" r:id="rId19"/>
    <p:sldId id="284" r:id="rId2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5878"/>
  </p:normalViewPr>
  <p:slideViewPr>
    <p:cSldViewPr snapToGrid="0">
      <p:cViewPr varScale="1">
        <p:scale>
          <a:sx n="110" d="100"/>
          <a:sy n="110" d="100"/>
        </p:scale>
        <p:origin x="63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F4D8F0-84FB-D262-74A1-B108D4535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D3F5022-E09C-5392-8453-D3F30E65E2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AEAC48B-C7D8-43FB-F326-BA2123CCD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9480-788A-3B4A-B14F-9CA67BD66CD4}" type="datetimeFigureOut">
              <a:rPr lang="fr-FR" smtClean="0"/>
              <a:t>12/05/2025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E495BA7-2E95-280A-7308-CA473D00A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DD9425F-5DB1-CF3C-3328-0CBD8B8FC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1C871-CA6B-B040-B6CC-3FB6139BB54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4333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075D41-C271-17FB-EE90-8AD8C005D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5B7592D-2329-CD96-7072-7F26A34AB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8DA8825-FE0F-F3DC-8571-246C0DA53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9480-788A-3B4A-B14F-9CA67BD66CD4}" type="datetimeFigureOut">
              <a:rPr lang="fr-FR" smtClean="0"/>
              <a:t>12/05/2025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F4CBE00-F869-B311-D5C2-FD53A84B3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7B4F0EB-7276-6749-32EE-4C8D316F5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1C871-CA6B-B040-B6CC-3FB6139BB54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9623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486C58-B420-FA44-21E8-46D5F5E0B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B30A1BB-9539-62CD-F9CA-13B4D8E80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DA87EB9-99C8-F8AA-A00A-D95E647CA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9480-788A-3B4A-B14F-9CA67BD66CD4}" type="datetimeFigureOut">
              <a:rPr lang="fr-FR" smtClean="0"/>
              <a:t>12/05/2025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9AF8FF-A93C-6D09-B643-770A1DE6E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F0713B9-3009-9AEE-81B7-FED15ADE8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1C871-CA6B-B040-B6CC-3FB6139BB54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2201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836EC7-A57E-DBCD-540E-853DEC659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6D897C9-4370-7EAB-2C8A-D54F3F094F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A9E91F0-12C3-513B-9B37-BC1537B3DB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45BA5F3-7B29-86A9-9D58-BFA3FC795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9480-788A-3B4A-B14F-9CA67BD66CD4}" type="datetimeFigureOut">
              <a:rPr lang="fr-FR" smtClean="0"/>
              <a:t>12/05/2025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EEA7CF3-1511-C2A0-082C-60CE8A61B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751E2AA-F203-31E4-322F-B38EBD21E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1C871-CA6B-B040-B6CC-3FB6139BB54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2120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1EDBFD-BC28-98E0-7409-FC4C8A780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0D17FFA-D155-6775-8C1F-CB758867E0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340C5AE-23CF-B017-25D9-479CC49D09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0D20000-75E7-2C2E-1A3B-83E85E9956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708C26C-8504-B148-4098-FD28FA56A0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F59D50D-FEEC-1CCB-1169-9B3BBAC3B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9480-788A-3B4A-B14F-9CA67BD66CD4}" type="datetimeFigureOut">
              <a:rPr lang="fr-FR" smtClean="0"/>
              <a:t>12/05/2025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956C787-4546-44E6-BA7B-6E6A22D4C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0DC3DF3-DF7D-08F8-9134-45AC730DF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1C871-CA6B-B040-B6CC-3FB6139BB54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7650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EAC7BD-4550-5CC4-2D5D-F75F5A02E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D08B871-2F1D-E03A-8CB1-BBF5EE96E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9480-788A-3B4A-B14F-9CA67BD66CD4}" type="datetimeFigureOut">
              <a:rPr lang="fr-FR" smtClean="0"/>
              <a:t>12/05/2025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D10543A-F8D7-AD45-1775-0F2EEB99B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5D89D93-4745-9AF8-6CA9-34CA1FC1A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1C871-CA6B-B040-B6CC-3FB6139BB54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2969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E758E7F-114E-B7A5-EF41-0359F25DF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9480-788A-3B4A-B14F-9CA67BD66CD4}" type="datetimeFigureOut">
              <a:rPr lang="fr-FR" smtClean="0"/>
              <a:t>12/05/2025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9ADC61E-7730-00DC-1829-C78F8BC65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2697039-4141-712B-1C0F-3AFA2B18D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1C871-CA6B-B040-B6CC-3FB6139BB54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5742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9F3E11-DCE5-E67F-EB22-A76A71EF5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2BDC14-5458-B452-E936-8C19A3E0E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D4BD554-0A25-605D-05D5-CFB569F8D8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3503F30-9D31-15B8-34ED-E091B7904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9480-788A-3B4A-B14F-9CA67BD66CD4}" type="datetimeFigureOut">
              <a:rPr lang="fr-FR" smtClean="0"/>
              <a:t>12/05/2025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4648B0-402D-C965-9562-0C90DA724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1274A32-E624-8EA5-F05B-4E7446B2D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1C871-CA6B-B040-B6CC-3FB6139BB54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2432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096014-4D0B-A620-CE9C-3C7BA396F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FBBA20C-22DA-5261-6072-FEA32649DD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4F4A02E-765F-084C-7FCF-672D45FF59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09D2E07-EAA8-8A0C-F666-352BA9E93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9480-788A-3B4A-B14F-9CA67BD66CD4}" type="datetimeFigureOut">
              <a:rPr lang="fr-FR" smtClean="0"/>
              <a:t>12/05/2025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CA1CD13-5D60-79E2-C863-5D861D2D7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9A91DE3-EB11-06B8-0A56-60C08A4B6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1C871-CA6B-B040-B6CC-3FB6139BB54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244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01C2B3-77D6-71B1-F180-8B3857C3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C6E444D-1CDF-52AD-3091-EFBBA370AB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A52370A-A30C-C05C-617C-7BF2CD2CB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9480-788A-3B4A-B14F-9CA67BD66CD4}" type="datetimeFigureOut">
              <a:rPr lang="fr-FR" smtClean="0"/>
              <a:t>12/05/2025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E89FB72-9054-A9A8-9A20-42BDB9961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913F1FA-1143-EFAB-17F0-CC4689204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1C871-CA6B-B040-B6CC-3FB6139BB54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7839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D8AC6B9-7774-DBA4-94C4-DF03FA411F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534BBA6-8765-5E26-E6A9-4470530F06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A77791-5197-74E3-2283-6368D7501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9480-788A-3B4A-B14F-9CA67BD66CD4}" type="datetimeFigureOut">
              <a:rPr lang="fr-FR" smtClean="0"/>
              <a:t>12/05/2025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D01693B-26AB-0038-28D7-87721D510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FDDACCA-072A-3488-44FE-570B19EB8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1C871-CA6B-B040-B6CC-3FB6139BB54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3965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1D568A5-D62F-EF18-1080-10FF1410A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DA56651-502C-6A82-972B-2A399B26DE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ECA53F-A8B5-FCC3-72A2-C8E83B1951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B49480-788A-3B4A-B14F-9CA67BD66CD4}" type="datetimeFigureOut">
              <a:rPr lang="fr-FR" smtClean="0"/>
              <a:t>12/05/2025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5F817A-6253-19C7-8F35-96761346D2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B08A523-A27B-F78D-3820-756AFC905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11C871-CA6B-B040-B6CC-3FB6139BB54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2468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92EA3C-872E-99CF-22F1-3298F12F22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Démocratie, santé, numérique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8B04845-0FE7-ED67-8D7B-AACA121ADA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Emmanuel Didier</a:t>
            </a:r>
          </a:p>
          <a:p>
            <a:r>
              <a:rPr lang="fr-FR" dirty="0"/>
              <a:t>Directeur de recherche CNRS – directeur du programme Médecine Humanités à l’ENS</a:t>
            </a:r>
          </a:p>
          <a:p>
            <a:r>
              <a:rPr lang="fr-FR" dirty="0"/>
              <a:t>Chair de pratique en santé de JF </a:t>
            </a:r>
            <a:r>
              <a:rPr lang="fr-FR" dirty="0" err="1"/>
              <a:t>Delfraissy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34100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30A090-2DA3-39C2-6F84-255565F92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Introduction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F7C48C-CCB9-EBD7-0804-92FBB0315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dirty="0"/>
              <a:t>Médecine : pensée par cas. Mais médecine est aussi liée au </a:t>
            </a:r>
            <a:r>
              <a:rPr lang="fr-FR" b="1" dirty="0"/>
              <a:t>numérique </a:t>
            </a:r>
            <a:r>
              <a:rPr lang="fr-FR" dirty="0"/>
              <a:t>depuis le début.</a:t>
            </a:r>
          </a:p>
          <a:p>
            <a:r>
              <a:rPr lang="fr-FR" dirty="0"/>
              <a:t> Exemple : </a:t>
            </a:r>
            <a:r>
              <a:rPr lang="fr-FR" dirty="0" err="1">
                <a:effectLst/>
              </a:rPr>
              <a:t>Rusnock</a:t>
            </a:r>
            <a:r>
              <a:rPr lang="fr-FR" dirty="0">
                <a:effectLst/>
              </a:rPr>
              <a:t>, Andrea Alice. 2008. </a:t>
            </a:r>
            <a:r>
              <a:rPr lang="fr-FR" i="1" dirty="0">
                <a:effectLst/>
              </a:rPr>
              <a:t>Vital </a:t>
            </a:r>
            <a:r>
              <a:rPr lang="fr-FR" i="1" dirty="0" err="1">
                <a:effectLst/>
              </a:rPr>
              <a:t>Accounts</a:t>
            </a:r>
            <a:r>
              <a:rPr lang="fr-FR" i="1" dirty="0">
                <a:effectLst/>
              </a:rPr>
              <a:t>: </a:t>
            </a:r>
            <a:r>
              <a:rPr lang="fr-FR" i="1" dirty="0" err="1">
                <a:effectLst/>
              </a:rPr>
              <a:t>Quantifying</a:t>
            </a:r>
            <a:r>
              <a:rPr lang="fr-FR" i="1" dirty="0">
                <a:effectLst/>
              </a:rPr>
              <a:t> </a:t>
            </a:r>
            <a:r>
              <a:rPr lang="fr-FR" i="1" dirty="0" err="1">
                <a:effectLst/>
              </a:rPr>
              <a:t>Health</a:t>
            </a:r>
            <a:r>
              <a:rPr lang="fr-FR" i="1" dirty="0">
                <a:effectLst/>
              </a:rPr>
              <a:t> and Population in </a:t>
            </a:r>
            <a:r>
              <a:rPr lang="fr-FR" i="1" dirty="0" err="1">
                <a:effectLst/>
              </a:rPr>
              <a:t>Eighteenth</a:t>
            </a:r>
            <a:r>
              <a:rPr lang="fr-FR" i="1" dirty="0">
                <a:effectLst/>
              </a:rPr>
              <a:t>-Century </a:t>
            </a:r>
            <a:r>
              <a:rPr lang="fr-FR" i="1" dirty="0" err="1">
                <a:effectLst/>
              </a:rPr>
              <a:t>England</a:t>
            </a:r>
            <a:r>
              <a:rPr lang="fr-FR" i="1" dirty="0">
                <a:effectLst/>
              </a:rPr>
              <a:t> and France</a:t>
            </a:r>
            <a:r>
              <a:rPr lang="fr-FR" dirty="0">
                <a:effectLst/>
              </a:rPr>
              <a:t>. Cambridge </a:t>
            </a:r>
            <a:r>
              <a:rPr lang="fr-FR" dirty="0" err="1">
                <a:effectLst/>
              </a:rPr>
              <a:t>Studies</a:t>
            </a:r>
            <a:r>
              <a:rPr lang="fr-FR" dirty="0">
                <a:effectLst/>
              </a:rPr>
              <a:t> in the </a:t>
            </a:r>
            <a:r>
              <a:rPr lang="fr-FR" dirty="0" err="1">
                <a:effectLst/>
              </a:rPr>
              <a:t>History</a:t>
            </a:r>
            <a:r>
              <a:rPr lang="fr-FR" dirty="0">
                <a:effectLst/>
              </a:rPr>
              <a:t> of </a:t>
            </a:r>
            <a:r>
              <a:rPr lang="fr-FR" dirty="0" err="1">
                <a:effectLst/>
              </a:rPr>
              <a:t>Medicine</a:t>
            </a:r>
            <a:r>
              <a:rPr lang="fr-FR" dirty="0">
                <a:effectLst/>
              </a:rPr>
              <a:t>. Cambridge: </a:t>
            </a:r>
            <a:r>
              <a:rPr lang="fr-FR" dirty="0" err="1">
                <a:effectLst/>
              </a:rPr>
              <a:t>University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Press</a:t>
            </a:r>
            <a:r>
              <a:rPr lang="fr-FR" dirty="0">
                <a:effectLst/>
              </a:rPr>
              <a:t>. Table de mortalité, tests statistiques sur les vaccins. </a:t>
            </a:r>
            <a:endParaRPr lang="fr-FR" dirty="0"/>
          </a:p>
          <a:p>
            <a:r>
              <a:rPr lang="fr-FR" dirty="0"/>
              <a:t>Plus récemment : La Pléiade </a:t>
            </a:r>
            <a:r>
              <a:rPr lang="fr-FR" i="1" dirty="0"/>
              <a:t>Médecine </a:t>
            </a:r>
            <a:r>
              <a:rPr lang="fr-FR" dirty="0"/>
              <a:t>en 2 vol. 1980 il y a un chapitre « informatique médicale » J.L Bonnet et Guy Atlan ; l’avis 4 du CCNE 1985 porte sur les « registres médicaux » et leur informatisation. </a:t>
            </a:r>
          </a:p>
          <a:p>
            <a:r>
              <a:rPr lang="fr-FR" dirty="0"/>
              <a:t>Médecine est aussi lié à la </a:t>
            </a:r>
            <a:r>
              <a:rPr lang="fr-FR" b="1" dirty="0"/>
              <a:t>démocratie </a:t>
            </a:r>
            <a:r>
              <a:rPr lang="fr-FR" dirty="0"/>
              <a:t>: Etat providence, Santé publique, Sécurité sociale. </a:t>
            </a:r>
          </a:p>
          <a:p>
            <a:r>
              <a:rPr lang="fr-FR" dirty="0"/>
              <a:t>Plus récemment (Loi Kouchner 2002) : organisation de patients  ; droits des malades</a:t>
            </a:r>
          </a:p>
          <a:p>
            <a:r>
              <a:rPr lang="fr-FR" dirty="0">
                <a:effectLst/>
              </a:rPr>
              <a:t>Bergeron, Henri, and Patrick Castel. 2014. </a:t>
            </a:r>
            <a:r>
              <a:rPr lang="fr-FR" i="1" dirty="0">
                <a:effectLst/>
              </a:rPr>
              <a:t>Sociologie politique de la santé. </a:t>
            </a:r>
            <a:r>
              <a:rPr lang="fr-FR" dirty="0">
                <a:effectLst/>
              </a:rPr>
              <a:t>Quadrige. Paris: PUF.</a:t>
            </a:r>
          </a:p>
          <a:p>
            <a:r>
              <a:rPr lang="fr-FR" b="1" dirty="0">
                <a:effectLst/>
              </a:rPr>
              <a:t>Médecine </a:t>
            </a:r>
            <a:r>
              <a:rPr lang="fr-FR" b="1" dirty="0"/>
              <a:t>est donc tenue à la fois par le numérique et par la démocratie. Comment est-elle conformée par ces deux forces (pas complètement indépendantes) ? </a:t>
            </a:r>
            <a:endParaRPr lang="fr-FR" b="1" dirty="0">
              <a:effectLst/>
            </a:endParaRPr>
          </a:p>
          <a:p>
            <a:r>
              <a:rPr lang="fr-FR" dirty="0">
                <a:effectLst/>
              </a:rPr>
              <a:t>3 moments : génétique ; données de santé ; intelligence artificielle. 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69759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D03DB7-7E5E-C557-8A55-806AB1A5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Génomique et démocratie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B785C5-A268-D06F-9AC1-E47224EE2B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fr-FR" dirty="0"/>
          </a:p>
          <a:p>
            <a:r>
              <a:rPr lang="fr-FR" dirty="0"/>
              <a:t>Génétique a toujours été lié au numérique. </a:t>
            </a:r>
          </a:p>
          <a:p>
            <a:r>
              <a:rPr lang="fr-FR" dirty="0">
                <a:effectLst/>
              </a:rPr>
              <a:t>Avant même Mendel : Porter, Theodore. 2018. </a:t>
            </a:r>
            <a:r>
              <a:rPr lang="fr-FR" i="1" dirty="0" err="1">
                <a:effectLst/>
              </a:rPr>
              <a:t>Genetics</a:t>
            </a:r>
            <a:r>
              <a:rPr lang="fr-FR" i="1" dirty="0">
                <a:effectLst/>
              </a:rPr>
              <a:t> in the </a:t>
            </a:r>
            <a:r>
              <a:rPr lang="fr-FR" i="1" dirty="0" err="1">
                <a:effectLst/>
              </a:rPr>
              <a:t>Madhouse</a:t>
            </a:r>
            <a:r>
              <a:rPr lang="fr-FR" i="1" dirty="0">
                <a:effectLst/>
              </a:rPr>
              <a:t>: The </a:t>
            </a:r>
            <a:r>
              <a:rPr lang="fr-FR" i="1" dirty="0" err="1">
                <a:effectLst/>
              </a:rPr>
              <a:t>Unknown</a:t>
            </a:r>
            <a:r>
              <a:rPr lang="fr-FR" i="1" dirty="0">
                <a:effectLst/>
              </a:rPr>
              <a:t> </a:t>
            </a:r>
            <a:r>
              <a:rPr lang="fr-FR" i="1" dirty="0" err="1">
                <a:effectLst/>
              </a:rPr>
              <a:t>History</a:t>
            </a:r>
            <a:r>
              <a:rPr lang="fr-FR" i="1" dirty="0">
                <a:effectLst/>
              </a:rPr>
              <a:t> of Human </a:t>
            </a:r>
            <a:r>
              <a:rPr lang="fr-FR" i="1" dirty="0" err="1">
                <a:effectLst/>
              </a:rPr>
              <a:t>Heredity</a:t>
            </a:r>
            <a:r>
              <a:rPr lang="fr-FR" dirty="0">
                <a:effectLst/>
              </a:rPr>
              <a:t>. Princeton: Princeton </a:t>
            </a:r>
            <a:r>
              <a:rPr lang="fr-FR" dirty="0" err="1">
                <a:effectLst/>
              </a:rPr>
              <a:t>University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Press</a:t>
            </a:r>
            <a:r>
              <a:rPr lang="fr-FR" dirty="0">
                <a:effectLst/>
              </a:rPr>
              <a:t>.</a:t>
            </a:r>
            <a:endParaRPr lang="fr-FR" dirty="0"/>
          </a:p>
          <a:p>
            <a:r>
              <a:rPr lang="fr-FR" dirty="0"/>
              <a:t>Mais le grand bon en avant a eu lieu avec les techniques de </a:t>
            </a:r>
            <a:r>
              <a:rPr lang="fr-FR" b="1" dirty="0"/>
              <a:t>séquençage du génome </a:t>
            </a:r>
            <a:r>
              <a:rPr lang="fr-FR" dirty="0"/>
              <a:t>dans les années 1980. Création de bases de données énormes avec de nombreux problèmes liés à la défense de l’anonymat et le consentement. </a:t>
            </a:r>
          </a:p>
          <a:p>
            <a:r>
              <a:rPr lang="fr-FR" dirty="0"/>
              <a:t>Deux options très différentes d’usage de ces données dans deux conceptions de la démocratie très différentes. </a:t>
            </a:r>
          </a:p>
          <a:p>
            <a:r>
              <a:rPr lang="fr-FR" b="1" dirty="0"/>
              <a:t>Médecine personnalisée </a:t>
            </a:r>
            <a:r>
              <a:rPr lang="fr-FR" dirty="0"/>
              <a:t>vs. </a:t>
            </a:r>
            <a:r>
              <a:rPr lang="fr-FR" b="1" dirty="0"/>
              <a:t>médecine de précision</a:t>
            </a:r>
          </a:p>
        </p:txBody>
      </p:sp>
    </p:spTree>
    <p:extLst>
      <p:ext uri="{BB962C8B-B14F-4D97-AF65-F5344CB8AC3E}">
        <p14:creationId xmlns:p14="http://schemas.microsoft.com/office/powerpoint/2010/main" val="674602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1.1. Médecine personnalisée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endParaRPr lang="fr-FR" dirty="0"/>
          </a:p>
          <a:p>
            <a:r>
              <a:rPr lang="en-US" dirty="0"/>
              <a:t>“Personalized medicine”. </a:t>
            </a:r>
            <a:r>
              <a:rPr lang="fr-FR" dirty="0"/>
              <a:t>Terme qui apparait vers 2010 par </a:t>
            </a:r>
            <a:r>
              <a:rPr lang="en-US" dirty="0"/>
              <a:t>Francis S. Collins, Directeur des NIH: Il a </a:t>
            </a:r>
            <a:r>
              <a:rPr lang="en-US" dirty="0" err="1"/>
              <a:t>clairement</a:t>
            </a:r>
            <a:r>
              <a:rPr lang="en-US" dirty="0"/>
              <a:t> en tête le </a:t>
            </a:r>
            <a:r>
              <a:rPr lang="en-US" dirty="0" err="1"/>
              <a:t>modèle</a:t>
            </a:r>
            <a:r>
              <a:rPr lang="en-US" dirty="0"/>
              <a:t> de </a:t>
            </a:r>
            <a:r>
              <a:rPr lang="en-US" dirty="0" err="1"/>
              <a:t>l’agent</a:t>
            </a:r>
            <a:r>
              <a:rPr lang="en-US" dirty="0"/>
              <a:t> </a:t>
            </a:r>
            <a:r>
              <a:rPr lang="en-US" dirty="0" err="1"/>
              <a:t>économique</a:t>
            </a:r>
            <a:r>
              <a:rPr lang="en-US" dirty="0"/>
              <a:t> </a:t>
            </a:r>
            <a:r>
              <a:rPr lang="en-US" dirty="0" err="1"/>
              <a:t>rationel</a:t>
            </a:r>
            <a:r>
              <a:rPr lang="en-US" dirty="0"/>
              <a:t>. </a:t>
            </a:r>
          </a:p>
          <a:p>
            <a:r>
              <a:rPr lang="fr-FR" dirty="0">
                <a:effectLst/>
              </a:rPr>
              <a:t>Collins, Francis S. 2010. </a:t>
            </a:r>
            <a:r>
              <a:rPr lang="fr-FR" i="1" dirty="0">
                <a:effectLst/>
              </a:rPr>
              <a:t>The </a:t>
            </a:r>
            <a:r>
              <a:rPr lang="fr-FR" i="1" dirty="0" err="1">
                <a:effectLst/>
              </a:rPr>
              <a:t>Language</a:t>
            </a:r>
            <a:r>
              <a:rPr lang="fr-FR" i="1" dirty="0">
                <a:effectLst/>
              </a:rPr>
              <a:t> of Life: DNA and the </a:t>
            </a:r>
            <a:r>
              <a:rPr lang="fr-FR" i="1" dirty="0" err="1">
                <a:effectLst/>
              </a:rPr>
              <a:t>Revolution</a:t>
            </a:r>
            <a:r>
              <a:rPr lang="fr-FR" i="1" dirty="0">
                <a:effectLst/>
              </a:rPr>
              <a:t> in </a:t>
            </a:r>
            <a:r>
              <a:rPr lang="fr-FR" i="1" dirty="0" err="1">
                <a:effectLst/>
              </a:rPr>
              <a:t>Personalized</a:t>
            </a:r>
            <a:r>
              <a:rPr lang="fr-FR" i="1" dirty="0">
                <a:effectLst/>
              </a:rPr>
              <a:t> </a:t>
            </a:r>
            <a:r>
              <a:rPr lang="fr-FR" i="1" dirty="0" err="1">
                <a:effectLst/>
              </a:rPr>
              <a:t>Medicine</a:t>
            </a:r>
            <a:r>
              <a:rPr lang="fr-FR" dirty="0">
                <a:effectLst/>
              </a:rPr>
              <a:t>. New York: Harper.</a:t>
            </a:r>
            <a:endParaRPr lang="en-US" dirty="0"/>
          </a:p>
          <a:p>
            <a:r>
              <a:rPr lang="en-US" dirty="0"/>
              <a:t>« Desire to Know = Risk × Burden × Intervention » (172)</a:t>
            </a:r>
          </a:p>
          <a:p>
            <a:pPr lvl="1"/>
            <a:r>
              <a:rPr lang="en-US" dirty="0"/>
              <a:t>La </a:t>
            </a:r>
            <a:r>
              <a:rPr lang="en-US" dirty="0" err="1"/>
              <a:t>personne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un </a:t>
            </a:r>
            <a:r>
              <a:rPr lang="en-US" dirty="0" err="1"/>
              <a:t>consommateur</a:t>
            </a:r>
            <a:r>
              <a:rPr lang="en-US" dirty="0"/>
              <a:t> (son expression) qui </a:t>
            </a:r>
            <a:r>
              <a:rPr lang="en-US" dirty="0" err="1"/>
              <a:t>optimise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fonction</a:t>
            </a:r>
            <a:r>
              <a:rPr lang="en-US" dirty="0"/>
              <a:t> </a:t>
            </a:r>
            <a:r>
              <a:rPr lang="en-US" dirty="0" err="1"/>
              <a:t>d’utilité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Le </a:t>
            </a:r>
            <a:r>
              <a:rPr lang="en-US" dirty="0" err="1"/>
              <a:t>gouvernement</a:t>
            </a:r>
            <a:r>
              <a:rPr lang="en-US" dirty="0"/>
              <a:t> </a:t>
            </a:r>
            <a:r>
              <a:rPr lang="en-US" dirty="0" err="1"/>
              <a:t>doit</a:t>
            </a:r>
            <a:r>
              <a:rPr lang="en-US" dirty="0"/>
              <a:t> “</a:t>
            </a:r>
            <a:r>
              <a:rPr lang="en-US" dirty="0" err="1"/>
              <a:t>rendre</a:t>
            </a:r>
            <a:r>
              <a:rPr lang="en-US" dirty="0"/>
              <a:t> </a:t>
            </a:r>
            <a:r>
              <a:rPr lang="en-US" dirty="0" err="1"/>
              <a:t>l’information</a:t>
            </a:r>
            <a:r>
              <a:rPr lang="en-US" dirty="0"/>
              <a:t> accessible”. “La </a:t>
            </a:r>
            <a:r>
              <a:rPr lang="en-US" dirty="0" err="1"/>
              <a:t>difficulté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de </a:t>
            </a:r>
            <a:r>
              <a:rPr lang="en-US" dirty="0" err="1"/>
              <a:t>s’assurer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l’information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valide</a:t>
            </a:r>
            <a:r>
              <a:rPr lang="en-US" dirty="0"/>
              <a:t>, et </a:t>
            </a:r>
            <a:r>
              <a:rPr lang="en-US" dirty="0" err="1"/>
              <a:t>qu’elle</a:t>
            </a:r>
            <a:r>
              <a:rPr lang="en-US" dirty="0"/>
              <a:t> </a:t>
            </a:r>
            <a:r>
              <a:rPr lang="en-US" dirty="0" err="1"/>
              <a:t>soit</a:t>
            </a:r>
            <a:r>
              <a:rPr lang="en-US" dirty="0"/>
              <a:t> </a:t>
            </a:r>
            <a:r>
              <a:rPr lang="en-US" dirty="0" err="1"/>
              <a:t>présentée</a:t>
            </a:r>
            <a:r>
              <a:rPr lang="en-US" dirty="0"/>
              <a:t> </a:t>
            </a:r>
            <a:r>
              <a:rPr lang="en-US" dirty="0" err="1"/>
              <a:t>d’une</a:t>
            </a:r>
            <a:r>
              <a:rPr lang="en-US" dirty="0"/>
              <a:t> </a:t>
            </a:r>
            <a:r>
              <a:rPr lang="en-US" dirty="0" err="1"/>
              <a:t>façon</a:t>
            </a:r>
            <a:r>
              <a:rPr lang="en-US" dirty="0"/>
              <a:t> qui </a:t>
            </a:r>
            <a:r>
              <a:rPr lang="en-US" dirty="0" err="1"/>
              <a:t>précise</a:t>
            </a:r>
            <a:r>
              <a:rPr lang="en-US" dirty="0"/>
              <a:t> </a:t>
            </a:r>
            <a:r>
              <a:rPr lang="en-US" dirty="0" err="1"/>
              <a:t>clairement</a:t>
            </a:r>
            <a:r>
              <a:rPr lang="en-US" dirty="0"/>
              <a:t> et </a:t>
            </a:r>
            <a:r>
              <a:rPr lang="en-US" dirty="0" err="1"/>
              <a:t>précisément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nous </a:t>
            </a:r>
            <a:r>
              <a:rPr lang="en-US" dirty="0" err="1"/>
              <a:t>savons</a:t>
            </a:r>
            <a:r>
              <a:rPr lang="en-US" dirty="0"/>
              <a:t> et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nous </a:t>
            </a:r>
            <a:r>
              <a:rPr lang="en-US" dirty="0" err="1"/>
              <a:t>ignorons</a:t>
            </a:r>
            <a:r>
              <a:rPr lang="en-US" dirty="0"/>
              <a:t>” </a:t>
            </a:r>
            <a:r>
              <a:rPr lang="fr-FR" dirty="0"/>
              <a:t>(201)</a:t>
            </a:r>
            <a:endParaRPr lang="en-US" dirty="0"/>
          </a:p>
          <a:p>
            <a:r>
              <a:rPr lang="en-US" dirty="0"/>
              <a:t>Angelina </a:t>
            </a:r>
            <a:r>
              <a:rPr lang="en-US" dirty="0" err="1"/>
              <a:t>Joli</a:t>
            </a:r>
            <a:r>
              <a:rPr lang="en-US" dirty="0"/>
              <a:t>, question de la </a:t>
            </a:r>
            <a:r>
              <a:rPr lang="en-US" dirty="0" err="1"/>
              <a:t>masectomie</a:t>
            </a:r>
            <a:r>
              <a:rPr lang="en-US" dirty="0"/>
              <a:t>, se </a:t>
            </a:r>
            <a:r>
              <a:rPr lang="en-US" dirty="0" err="1"/>
              <a:t>comporte</a:t>
            </a:r>
            <a:r>
              <a:rPr lang="en-US" dirty="0"/>
              <a:t> </a:t>
            </a:r>
            <a:r>
              <a:rPr lang="en-US" dirty="0" err="1"/>
              <a:t>exactement</a:t>
            </a:r>
            <a:r>
              <a:rPr lang="en-US" dirty="0"/>
              <a:t> </a:t>
            </a:r>
            <a:r>
              <a:rPr lang="en-US" dirty="0" err="1"/>
              <a:t>comme</a:t>
            </a:r>
            <a:r>
              <a:rPr lang="en-US" dirty="0"/>
              <a:t> le </a:t>
            </a:r>
            <a:r>
              <a:rPr lang="en-US" dirty="0" err="1"/>
              <a:t>prévoit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modèle</a:t>
            </a:r>
            <a:r>
              <a:rPr lang="en-US" dirty="0"/>
              <a:t>.  “It is not easy to make these decisions. But it is possible to take control and tackle head-on any health issue. You can seek advice, learn about the options and make choices that are right for you. Knowledge is power.” NYT, March 24, 2015</a:t>
            </a:r>
          </a:p>
          <a:p>
            <a:r>
              <a:rPr lang="en-US" dirty="0" err="1"/>
              <a:t>Démocratie</a:t>
            </a:r>
            <a:r>
              <a:rPr lang="en-US" dirty="0"/>
              <a:t> au </a:t>
            </a:r>
            <a:r>
              <a:rPr lang="en-US" dirty="0" err="1"/>
              <a:t>sens</a:t>
            </a:r>
            <a:r>
              <a:rPr lang="en-US" dirty="0"/>
              <a:t> de </a:t>
            </a:r>
            <a:r>
              <a:rPr lang="en-US" dirty="0" err="1"/>
              <a:t>libéralisme</a:t>
            </a:r>
            <a:r>
              <a:rPr lang="en-US" dirty="0"/>
              <a:t> </a:t>
            </a:r>
            <a:r>
              <a:rPr lang="en-US" dirty="0" err="1"/>
              <a:t>économique</a:t>
            </a:r>
            <a:r>
              <a:rPr lang="en-US" dirty="0"/>
              <a:t>. </a:t>
            </a:r>
            <a:r>
              <a:rPr lang="en-US" dirty="0" err="1"/>
              <a:t>Mais</a:t>
            </a:r>
            <a:r>
              <a:rPr lang="en-US" dirty="0"/>
              <a:t> le </a:t>
            </a:r>
            <a:r>
              <a:rPr lang="en-US" dirty="0" err="1"/>
              <a:t>consommateur</a:t>
            </a:r>
            <a:r>
              <a:rPr lang="en-US" dirty="0"/>
              <a:t> </a:t>
            </a:r>
            <a:r>
              <a:rPr lang="en-US" dirty="0" err="1"/>
              <a:t>n’est</a:t>
            </a:r>
            <a:r>
              <a:rPr lang="en-US" dirty="0"/>
              <a:t> pas </a:t>
            </a:r>
            <a:r>
              <a:rPr lang="en-US" dirty="0" err="1"/>
              <a:t>toujours</a:t>
            </a:r>
            <a:r>
              <a:rPr lang="en-US" dirty="0"/>
              <a:t> </a:t>
            </a:r>
            <a:r>
              <a:rPr lang="en-US" dirty="0" err="1"/>
              <a:t>accompagné</a:t>
            </a:r>
            <a:r>
              <a:rPr lang="en-US" dirty="0"/>
              <a:t> de </a:t>
            </a:r>
            <a:r>
              <a:rPr lang="en-US" dirty="0" err="1"/>
              <a:t>tous</a:t>
            </a:r>
            <a:r>
              <a:rPr lang="en-US" dirty="0"/>
              <a:t> </a:t>
            </a:r>
            <a:r>
              <a:rPr lang="en-US" dirty="0" err="1"/>
              <a:t>ceux</a:t>
            </a:r>
            <a:r>
              <a:rPr lang="en-US" dirty="0"/>
              <a:t> qui </a:t>
            </a:r>
            <a:r>
              <a:rPr lang="en-US" dirty="0" err="1"/>
              <a:t>lui</a:t>
            </a:r>
            <a:r>
              <a:rPr lang="en-US" dirty="0"/>
              <a:t> </a:t>
            </a:r>
            <a:r>
              <a:rPr lang="en-US" dirty="0" err="1"/>
              <a:t>rendent</a:t>
            </a:r>
            <a:r>
              <a:rPr lang="en-US" dirty="0"/>
              <a:t> </a:t>
            </a:r>
            <a:r>
              <a:rPr lang="en-US" dirty="0" err="1"/>
              <a:t>l’information</a:t>
            </a:r>
            <a:r>
              <a:rPr lang="en-US" dirty="0"/>
              <a:t> accessible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compréhensible</a:t>
            </a:r>
            <a:r>
              <a:rPr lang="en-US" dirty="0"/>
              <a:t>. Il </a:t>
            </a:r>
            <a:r>
              <a:rPr lang="en-US" dirty="0" err="1"/>
              <a:t>peut</a:t>
            </a:r>
            <a:r>
              <a:rPr lang="en-US" dirty="0"/>
              <a:t> </a:t>
            </a:r>
            <a:r>
              <a:rPr lang="en-US" dirty="0" err="1"/>
              <a:t>aussi</a:t>
            </a:r>
            <a:r>
              <a:rPr lang="en-US" dirty="0"/>
              <a:t> </a:t>
            </a:r>
            <a:r>
              <a:rPr lang="en-US" dirty="0" err="1"/>
              <a:t>être</a:t>
            </a:r>
            <a:r>
              <a:rPr lang="en-US" dirty="0"/>
              <a:t> </a:t>
            </a:r>
            <a:r>
              <a:rPr lang="en-US" dirty="0" err="1"/>
              <a:t>inconsistant</a:t>
            </a:r>
            <a:r>
              <a:rPr lang="en-US" dirty="0"/>
              <a:t> ; question des “incidental findings”. 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09158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1.2. Médecine de précision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National Research Council 2011. </a:t>
            </a:r>
          </a:p>
          <a:p>
            <a:pPr lvl="1"/>
            <a:r>
              <a:rPr lang="en-US" dirty="0"/>
              <a:t>“Le </a:t>
            </a:r>
            <a:r>
              <a:rPr lang="en-US" dirty="0" err="1"/>
              <a:t>comité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de </a:t>
            </a:r>
            <a:r>
              <a:rPr lang="en-US" dirty="0" err="1"/>
              <a:t>l’opinion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pour </a:t>
            </a:r>
            <a:r>
              <a:rPr lang="en-US" dirty="0" err="1"/>
              <a:t>réaliser</a:t>
            </a:r>
            <a:r>
              <a:rPr lang="en-US" dirty="0"/>
              <a:t> </a:t>
            </a:r>
            <a:r>
              <a:rPr lang="en-US" dirty="0" err="1"/>
              <a:t>toutes</a:t>
            </a:r>
            <a:r>
              <a:rPr lang="en-US" dirty="0"/>
              <a:t> les </a:t>
            </a:r>
            <a:r>
              <a:rPr lang="en-US" dirty="0" err="1"/>
              <a:t>promesses</a:t>
            </a:r>
            <a:r>
              <a:rPr lang="en-US" dirty="0"/>
              <a:t> de la </a:t>
            </a:r>
            <a:r>
              <a:rPr lang="en-US" dirty="0" err="1"/>
              <a:t>médecine</a:t>
            </a:r>
            <a:r>
              <a:rPr lang="en-US" dirty="0"/>
              <a:t> de </a:t>
            </a:r>
            <a:r>
              <a:rPr lang="en-US" dirty="0" err="1"/>
              <a:t>précision</a:t>
            </a:r>
            <a:r>
              <a:rPr lang="en-US" dirty="0"/>
              <a:t>, </a:t>
            </a:r>
            <a:r>
              <a:rPr lang="en-US" dirty="0" err="1"/>
              <a:t>dont</a:t>
            </a:r>
            <a:r>
              <a:rPr lang="en-US" dirty="0"/>
              <a:t> le but </a:t>
            </a:r>
            <a:r>
              <a:rPr lang="en-US" dirty="0" err="1"/>
              <a:t>est</a:t>
            </a:r>
            <a:r>
              <a:rPr lang="en-US" dirty="0"/>
              <a:t> de </a:t>
            </a:r>
            <a:r>
              <a:rPr lang="en-US" dirty="0" err="1"/>
              <a:t>fournir</a:t>
            </a:r>
            <a:r>
              <a:rPr lang="en-US" dirty="0"/>
              <a:t> </a:t>
            </a:r>
            <a:r>
              <a:rPr lang="en-US" dirty="0" err="1"/>
              <a:t>à</a:t>
            </a:r>
            <a:r>
              <a:rPr lang="en-US" dirty="0"/>
              <a:t> </a:t>
            </a:r>
            <a:r>
              <a:rPr lang="en-US" dirty="0" err="1"/>
              <a:t>chaque</a:t>
            </a:r>
            <a:r>
              <a:rPr lang="en-US" dirty="0"/>
              <a:t> </a:t>
            </a:r>
            <a:r>
              <a:rPr lang="en-US" dirty="0" err="1"/>
              <a:t>individu</a:t>
            </a:r>
            <a:r>
              <a:rPr lang="en-US" dirty="0"/>
              <a:t> les </a:t>
            </a:r>
            <a:r>
              <a:rPr lang="en-US" dirty="0" err="1"/>
              <a:t>soins</a:t>
            </a:r>
            <a:r>
              <a:rPr lang="en-US" dirty="0"/>
              <a:t> les </a:t>
            </a:r>
            <a:r>
              <a:rPr lang="en-US" dirty="0" err="1"/>
              <a:t>meilleurs</a:t>
            </a:r>
            <a:r>
              <a:rPr lang="en-US" dirty="0"/>
              <a:t> </a:t>
            </a:r>
            <a:r>
              <a:rPr lang="en-US" dirty="0" err="1"/>
              <a:t>possibles</a:t>
            </a:r>
            <a:r>
              <a:rPr lang="en-US" dirty="0"/>
              <a:t>,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nécessaire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les </a:t>
            </a:r>
            <a:r>
              <a:rPr lang="en-US" dirty="0" err="1"/>
              <a:t>chercheurs</a:t>
            </a:r>
            <a:r>
              <a:rPr lang="en-US" dirty="0"/>
              <a:t> et les </a:t>
            </a:r>
            <a:r>
              <a:rPr lang="en-US" dirty="0" err="1"/>
              <a:t>professionnels</a:t>
            </a:r>
            <a:r>
              <a:rPr lang="en-US" dirty="0"/>
              <a:t> de la santé </a:t>
            </a:r>
            <a:r>
              <a:rPr lang="en-US" dirty="0" err="1"/>
              <a:t>aient</a:t>
            </a:r>
            <a:r>
              <a:rPr lang="en-US" dirty="0"/>
              <a:t> </a:t>
            </a:r>
            <a:r>
              <a:rPr lang="en-US" dirty="0" err="1"/>
              <a:t>accès</a:t>
            </a:r>
            <a:r>
              <a:rPr lang="en-US" dirty="0"/>
              <a:t> </a:t>
            </a:r>
            <a:r>
              <a:rPr lang="en-US" dirty="0" err="1"/>
              <a:t>à</a:t>
            </a:r>
            <a:r>
              <a:rPr lang="en-US" dirty="0"/>
              <a:t> un </a:t>
            </a:r>
            <a:r>
              <a:rPr lang="en-US" dirty="0" err="1"/>
              <a:t>très</a:t>
            </a:r>
            <a:r>
              <a:rPr lang="en-US" dirty="0"/>
              <a:t> grand ensemble de </a:t>
            </a:r>
            <a:r>
              <a:rPr lang="en-US" dirty="0" err="1"/>
              <a:t>données</a:t>
            </a:r>
            <a:r>
              <a:rPr lang="en-US" dirty="0"/>
              <a:t> </a:t>
            </a:r>
            <a:r>
              <a:rPr lang="en-US" dirty="0" err="1"/>
              <a:t>concernant</a:t>
            </a:r>
            <a:r>
              <a:rPr lang="en-US" dirty="0"/>
              <a:t> la santé et les troubles du patient.”(7)</a:t>
            </a:r>
          </a:p>
          <a:p>
            <a:pPr lvl="1"/>
            <a:r>
              <a:rPr lang="en-US" dirty="0" err="1"/>
              <a:t>Ils</a:t>
            </a:r>
            <a:r>
              <a:rPr lang="en-US" dirty="0"/>
              <a:t> </a:t>
            </a:r>
            <a:r>
              <a:rPr lang="en-US" dirty="0" err="1"/>
              <a:t>proposent</a:t>
            </a:r>
            <a:r>
              <a:rPr lang="en-US" dirty="0"/>
              <a:t> </a:t>
            </a:r>
            <a:r>
              <a:rPr lang="en-US" dirty="0" err="1"/>
              <a:t>d’établir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“Information Commons” comparable </a:t>
            </a:r>
            <a:r>
              <a:rPr lang="en-US" dirty="0" err="1"/>
              <a:t>à</a:t>
            </a:r>
            <a:r>
              <a:rPr lang="en-US" dirty="0"/>
              <a:t> </a:t>
            </a:r>
            <a:r>
              <a:rPr lang="en-US" dirty="0" err="1"/>
              <a:t>Googlemap</a:t>
            </a:r>
            <a:r>
              <a:rPr lang="en-US" dirty="0"/>
              <a:t>. </a:t>
            </a:r>
          </a:p>
          <a:p>
            <a:pPr lvl="1"/>
            <a:r>
              <a:rPr lang="en-US" dirty="0" err="1"/>
              <a:t>Ses</a:t>
            </a:r>
            <a:r>
              <a:rPr lang="en-US" dirty="0"/>
              <a:t> </a:t>
            </a:r>
            <a:r>
              <a:rPr lang="en-US" dirty="0" err="1"/>
              <a:t>utilisateurs</a:t>
            </a:r>
            <a:r>
              <a:rPr lang="en-US" dirty="0"/>
              <a:t> </a:t>
            </a:r>
            <a:r>
              <a:rPr lang="en-US" dirty="0" err="1"/>
              <a:t>sont</a:t>
            </a:r>
            <a:r>
              <a:rPr lang="en-US" dirty="0"/>
              <a:t> les </a:t>
            </a:r>
            <a:r>
              <a:rPr lang="en-US" dirty="0" err="1"/>
              <a:t>chercheurs</a:t>
            </a:r>
            <a:r>
              <a:rPr lang="en-US" dirty="0"/>
              <a:t> et les </a:t>
            </a:r>
            <a:r>
              <a:rPr lang="en-US" dirty="0" err="1"/>
              <a:t>professionnels</a:t>
            </a:r>
            <a:r>
              <a:rPr lang="en-US" dirty="0"/>
              <a:t> de santé. (17) </a:t>
            </a:r>
          </a:p>
          <a:p>
            <a:pPr lvl="1"/>
            <a:r>
              <a:rPr lang="en-US" dirty="0" err="1"/>
              <a:t>Démocratie</a:t>
            </a:r>
            <a:r>
              <a:rPr lang="en-US" dirty="0"/>
              <a:t> au </a:t>
            </a:r>
            <a:r>
              <a:rPr lang="en-US" dirty="0" err="1"/>
              <a:t>sens</a:t>
            </a:r>
            <a:r>
              <a:rPr lang="en-US" dirty="0"/>
              <a:t> </a:t>
            </a:r>
            <a:r>
              <a:rPr lang="en-US" dirty="0" err="1"/>
              <a:t>d’expertise</a:t>
            </a:r>
            <a:r>
              <a:rPr lang="en-US" dirty="0"/>
              <a:t> </a:t>
            </a:r>
            <a:r>
              <a:rPr lang="en-US" dirty="0" err="1"/>
              <a:t>livrée</a:t>
            </a:r>
            <a:r>
              <a:rPr lang="en-US" dirty="0"/>
              <a:t> au public. Le </a:t>
            </a:r>
            <a:r>
              <a:rPr lang="en-US" dirty="0" err="1"/>
              <a:t>probleme</a:t>
            </a:r>
            <a:r>
              <a:rPr lang="en-US" dirty="0"/>
              <a:t> </a:t>
            </a:r>
            <a:r>
              <a:rPr lang="en-US" dirty="0" err="1"/>
              <a:t>dénoncé</a:t>
            </a:r>
            <a:r>
              <a:rPr lang="en-US" dirty="0"/>
              <a:t> surtout aux US : le </a:t>
            </a:r>
            <a:r>
              <a:rPr lang="en-US" dirty="0" err="1"/>
              <a:t>paternalisme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 </a:t>
            </a:r>
          </a:p>
          <a:p>
            <a:pPr lvl="1"/>
            <a:endParaRPr lang="en-US" dirty="0"/>
          </a:p>
          <a:p>
            <a:endParaRPr lang="fr-FR" dirty="0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 rotWithShape="1">
          <a:blip r:embed="rId2"/>
          <a:srcRect l="1" t="1" r="-119873" b="-187399"/>
          <a:stretch/>
        </p:blipFill>
        <p:spPr>
          <a:xfrm>
            <a:off x="3022286" y="3952240"/>
            <a:ext cx="11638634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657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D31F1F-B2AD-FAAD-6209-C6AFFB29C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1.3. 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DDA2B58-7269-E9AC-89BE-700205C1A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génomique n’est pas une pure science détachée des formats politiques où elle s’exerce. </a:t>
            </a:r>
          </a:p>
          <a:p>
            <a:r>
              <a:rPr lang="fr-FR" dirty="0"/>
              <a:t>On peut distinguer deux modèles démocratiques de la génomique : un modèle libéral marchand  et un modèle expert techniciste. </a:t>
            </a:r>
          </a:p>
          <a:p>
            <a:r>
              <a:rPr lang="fr-FR" dirty="0"/>
              <a:t>Les deux modèles organisent différemment les rapports entre médecin, patient, technologie. </a:t>
            </a:r>
          </a:p>
        </p:txBody>
      </p:sp>
    </p:spTree>
    <p:extLst>
      <p:ext uri="{BB962C8B-B14F-4D97-AF65-F5344CB8AC3E}">
        <p14:creationId xmlns:p14="http://schemas.microsoft.com/office/powerpoint/2010/main" val="939248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C65513-97A9-FB43-92ED-7498C30CE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Politiques des plateformes de données de santé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89A141-A2C0-5F46-B535-A5EF4B926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FR" dirty="0"/>
              <a:t> </a:t>
            </a:r>
          </a:p>
          <a:p>
            <a:pPr lvl="0"/>
            <a:r>
              <a:rPr lang="fr-FR" dirty="0"/>
              <a:t>Rapport Villani 2018 : </a:t>
            </a:r>
            <a:r>
              <a:rPr lang="fr-FR" i="1" dirty="0"/>
              <a:t>Donner un sens à l’intelligence artificielle</a:t>
            </a:r>
            <a:r>
              <a:rPr lang="fr-FR" dirty="0"/>
              <a:t>. Les données de la Sécurité sociale constituent un « trésor  national ». </a:t>
            </a:r>
          </a:p>
          <a:p>
            <a:pPr lvl="0"/>
            <a:r>
              <a:rPr lang="fr-FR" dirty="0"/>
              <a:t>Création gouvernementale du </a:t>
            </a:r>
            <a:r>
              <a:rPr lang="fr-FR" dirty="0" err="1"/>
              <a:t>Health</a:t>
            </a:r>
            <a:r>
              <a:rPr lang="fr-FR" dirty="0"/>
              <a:t> Data Hub (HDH) dans la foulée, chargé d’exploiter ce trésor : avancer la recherche, défendre les « licornes ». </a:t>
            </a:r>
          </a:p>
          <a:p>
            <a:pPr lvl="0"/>
            <a:r>
              <a:rPr lang="fr-FR" dirty="0"/>
              <a:t>Immédiat débat public concernant le HDH ; questions sur la démocratie en santé : </a:t>
            </a:r>
          </a:p>
          <a:p>
            <a:pPr lvl="1"/>
            <a:r>
              <a:rPr lang="fr-FR" dirty="0"/>
              <a:t>Infrastructure viennent d’entreprises US. Défense de la souveraineté nationale ? </a:t>
            </a:r>
          </a:p>
          <a:p>
            <a:pPr lvl="1"/>
            <a:r>
              <a:rPr lang="fr-FR" dirty="0"/>
              <a:t>Quelle distribution équitable des revenus économique et scientifiques pour les plateformes hospitalières. </a:t>
            </a:r>
          </a:p>
          <a:p>
            <a:pPr lvl="1"/>
            <a:r>
              <a:rPr lang="fr-FR" dirty="0"/>
              <a:t>Quelle défense de la vie privée et du consentement des citoyens. </a:t>
            </a:r>
          </a:p>
          <a:p>
            <a:r>
              <a:rPr lang="fr-FR" dirty="0" err="1"/>
              <a:t>Autosaisine</a:t>
            </a:r>
            <a:r>
              <a:rPr lang="fr-FR" dirty="0"/>
              <a:t> 2021 CCNE / CNPEN sur cette question, élargie à toutes les plateformes de données de santé, qui sont nombreuses. 4 parties importantes. </a:t>
            </a:r>
          </a:p>
          <a:p>
            <a:r>
              <a:rPr lang="fr-FR" sz="1800" dirty="0">
                <a:effectLst/>
                <a:latin typeface="Verdana" panose="020B0604030504040204" pitchFamily="34" charset="0"/>
                <a:ea typeface="MS Mincho" panose="02020609040205080304" pitchFamily="49" charset="-128"/>
              </a:rPr>
              <a:t>2023, avril, « Plateformes de données de santé : enjeux d’éthique ». Avis Commun 143 CCNE et 5 CNPEN. </a:t>
            </a:r>
            <a:r>
              <a:rPr lang="fr-FR" sz="1800" dirty="0" err="1">
                <a:effectLst/>
                <a:latin typeface="Verdana" panose="020B0604030504040204" pitchFamily="34" charset="0"/>
                <a:ea typeface="MS Mincho" panose="02020609040205080304" pitchFamily="49" charset="-128"/>
              </a:rPr>
              <a:t>Co-rapporteur</a:t>
            </a:r>
            <a:r>
              <a:rPr lang="fr-FR" sz="1800" dirty="0">
                <a:effectLst/>
                <a:latin typeface="Verdana" panose="020B0604030504040204" pitchFamily="34" charset="0"/>
                <a:ea typeface="MS Mincho" panose="02020609040205080304" pitchFamily="49" charset="-128"/>
              </a:rPr>
              <a:t> avec ), Christine Froidevaux (CNPEN) et Jérôme Perrin (CNPEN).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76290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3778F4-184F-1F4E-9579-F99FEBD40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2.1. Questions liées à la construction technique des plateformes.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2E7A423-E6FB-7A42-BB9A-20461ADBE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/>
              <a:t>Nature juridique des données personnelles de santé : en Europe, sont un </a:t>
            </a:r>
            <a:r>
              <a:rPr lang="fr-FR" b="1" dirty="0"/>
              <a:t>attribut </a:t>
            </a:r>
            <a:r>
              <a:rPr lang="fr-FR" dirty="0"/>
              <a:t>des personnes et </a:t>
            </a:r>
            <a:r>
              <a:rPr lang="fr-FR" b="1" dirty="0"/>
              <a:t>non un bien marchand</a:t>
            </a:r>
            <a:r>
              <a:rPr lang="fr-FR" dirty="0"/>
              <a:t>. Pas de propriétaire. </a:t>
            </a:r>
          </a:p>
          <a:p>
            <a:r>
              <a:rPr lang="fr-FR" dirty="0"/>
              <a:t>Ne peuvent circuler que si il y a consentement. Vendables que si elles sont </a:t>
            </a:r>
            <a:r>
              <a:rPr lang="fr-FR" dirty="0" err="1"/>
              <a:t>anonymisées</a:t>
            </a:r>
            <a:r>
              <a:rPr lang="fr-FR" dirty="0"/>
              <a:t>. </a:t>
            </a:r>
          </a:p>
          <a:p>
            <a:r>
              <a:rPr lang="fr-FR" dirty="0"/>
              <a:t>Une autre question technique est celle de la tension entre les </a:t>
            </a:r>
            <a:r>
              <a:rPr lang="fr-FR" b="1" dirty="0"/>
              <a:t>infrastructures centralisées </a:t>
            </a:r>
            <a:r>
              <a:rPr lang="fr-FR" dirty="0"/>
              <a:t>ou </a:t>
            </a:r>
            <a:r>
              <a:rPr lang="fr-FR" b="1" dirty="0"/>
              <a:t>décentralisées</a:t>
            </a:r>
            <a:r>
              <a:rPr lang="fr-FR" dirty="0"/>
              <a:t>.</a:t>
            </a:r>
          </a:p>
          <a:p>
            <a:r>
              <a:rPr lang="fr-FR" dirty="0"/>
              <a:t>Recommandations de l’avis</a:t>
            </a:r>
          </a:p>
          <a:p>
            <a:pPr lvl="1"/>
            <a:r>
              <a:rPr lang="fr-FR" dirty="0"/>
              <a:t>Développer des recherches sur l’anonymisation et la </a:t>
            </a:r>
            <a:r>
              <a:rPr lang="fr-FR" dirty="0" err="1"/>
              <a:t>pseudonymisation</a:t>
            </a:r>
            <a:r>
              <a:rPr lang="fr-FR" dirty="0"/>
              <a:t> des données. </a:t>
            </a:r>
          </a:p>
          <a:p>
            <a:pPr lvl="1"/>
            <a:r>
              <a:rPr lang="fr-FR" dirty="0"/>
              <a:t>Evaluer l’impact environnemental des Plateformes. </a:t>
            </a:r>
          </a:p>
          <a:p>
            <a:pPr lvl="1"/>
            <a:r>
              <a:rPr lang="fr-FR" dirty="0"/>
              <a:t>Mener des études d’évaluation comparatives entre architectures centralisées et décentralisées. </a:t>
            </a:r>
          </a:p>
          <a:p>
            <a:pPr lvl="1"/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49387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75E65B-008F-B94C-8BA1-871B727C8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2.2.  Transformations du consentement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700F6B7-960C-F549-9C33-5984F235F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fr-FR" dirty="0"/>
              <a:t>Le principal problème est qu’aujourd’hui le consentement vaut pour un usage spécifique. Or avec les PDS les données sont susceptibles d’être réutilisées. </a:t>
            </a:r>
          </a:p>
          <a:p>
            <a:r>
              <a:rPr lang="fr-FR" dirty="0" err="1"/>
              <a:t>Opt</a:t>
            </a:r>
            <a:r>
              <a:rPr lang="fr-FR" dirty="0"/>
              <a:t> in / </a:t>
            </a:r>
            <a:r>
              <a:rPr lang="fr-FR" dirty="0" err="1"/>
              <a:t>Opt</a:t>
            </a:r>
            <a:r>
              <a:rPr lang="fr-FR" dirty="0"/>
              <a:t> Out ont des effets très différents. </a:t>
            </a:r>
          </a:p>
          <a:p>
            <a:r>
              <a:rPr lang="fr-FR" dirty="0"/>
              <a:t>Altruisme des données</a:t>
            </a:r>
          </a:p>
          <a:p>
            <a:pPr lvl="1"/>
            <a:r>
              <a:rPr lang="fr-FR" dirty="0"/>
              <a:t>Promu dans le UE Data </a:t>
            </a:r>
            <a:r>
              <a:rPr lang="fr-FR" dirty="0" err="1"/>
              <a:t>Governance</a:t>
            </a:r>
            <a:r>
              <a:rPr lang="fr-FR" dirty="0"/>
              <a:t> </a:t>
            </a:r>
            <a:r>
              <a:rPr lang="fr-FR" dirty="0" err="1"/>
              <a:t>Act</a:t>
            </a:r>
            <a:endParaRPr lang="fr-FR" dirty="0"/>
          </a:p>
          <a:p>
            <a:pPr lvl="1"/>
            <a:r>
              <a:rPr lang="fr-FR" dirty="0"/>
              <a:t>Consentir à tous usages en échange d’une information régulière sur les usages qui en sont faits, afin de donner la possibilité de sortir. </a:t>
            </a:r>
          </a:p>
          <a:p>
            <a:r>
              <a:rPr lang="fr-FR" dirty="0"/>
              <a:t>Recommandations</a:t>
            </a:r>
          </a:p>
          <a:p>
            <a:pPr lvl="1"/>
            <a:r>
              <a:rPr lang="fr-FR" dirty="0"/>
              <a:t>Favoriser un accompagnement par des tiers de confiance qui pourraient être des auxiliaires en numérique de santé. </a:t>
            </a:r>
          </a:p>
          <a:p>
            <a:pPr lvl="1"/>
            <a:r>
              <a:rPr lang="fr-FR" dirty="0"/>
              <a:t>Favoriser la participation citoyenne à la gouvernance des PDS, et à l’élaboration des appels à projets de recherche, en particulier par l’intermédiaire des associations de patients, et informer ces dernières en amont, pendant et après les projets de recherche</a:t>
            </a:r>
          </a:p>
        </p:txBody>
      </p:sp>
    </p:spTree>
    <p:extLst>
      <p:ext uri="{BB962C8B-B14F-4D97-AF65-F5344CB8AC3E}">
        <p14:creationId xmlns:p14="http://schemas.microsoft.com/office/powerpoint/2010/main" val="3239903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40E0E4-BF0B-8540-8AA6-35E633AA0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2.3. - Souveraineté sur </a:t>
            </a:r>
            <a:r>
              <a:rPr lang="fr-FR" dirty="0">
                <a:effectLst/>
              </a:rPr>
              <a:t>des données. 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114987B-C75D-A24A-AAAD-31BD7AB4D2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b="1" dirty="0"/>
              <a:t>Souveraineté</a:t>
            </a:r>
            <a:r>
              <a:rPr lang="fr-FR" dirty="0"/>
              <a:t>, question apparue tout de suite avec la création du HDH. Microsoft azur infrastructure US qui va porter les données Française. </a:t>
            </a:r>
          </a:p>
          <a:p>
            <a:r>
              <a:rPr lang="fr-FR" dirty="0"/>
              <a:t>3 sens à « souveraineté ». </a:t>
            </a:r>
          </a:p>
          <a:p>
            <a:pPr lvl="1"/>
            <a:r>
              <a:rPr lang="fr-FR" dirty="0"/>
              <a:t>Libérale : disposer d’entreprises de taille suffisantes pour lutter sur les marchés globaux. </a:t>
            </a:r>
          </a:p>
          <a:p>
            <a:pPr lvl="1"/>
            <a:r>
              <a:rPr lang="fr-FR" dirty="0"/>
              <a:t>régulatrice : réguler l’usage des données par les entreprises </a:t>
            </a:r>
            <a:r>
              <a:rPr lang="fr-FR" dirty="0" err="1"/>
              <a:t>internationnales</a:t>
            </a:r>
            <a:r>
              <a:rPr lang="fr-FR" dirty="0"/>
              <a:t>. </a:t>
            </a:r>
          </a:p>
          <a:p>
            <a:pPr lvl="1"/>
            <a:r>
              <a:rPr lang="fr-FR" dirty="0"/>
              <a:t>autonomie stratégique en Europe : être capable de construire les briques cruciales du développement des machines. </a:t>
            </a:r>
          </a:p>
          <a:p>
            <a:r>
              <a:rPr lang="fr-FR" dirty="0"/>
              <a:t>Recommandations</a:t>
            </a:r>
          </a:p>
          <a:p>
            <a:pPr lvl="1"/>
            <a:r>
              <a:rPr lang="fr-FR" dirty="0"/>
              <a:t>Certification des PDS par des équipes pluridisciplinaires, dont SHS qui ont déjà travaillé sur souveraineté. </a:t>
            </a:r>
          </a:p>
          <a:p>
            <a:pPr lvl="1"/>
            <a:r>
              <a:rPr lang="fr-FR" dirty="0"/>
              <a:t>Veiller à ce que les partenaires non européens signent une clause de garantie du RGPD. 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37693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0ADA3E-C653-AC48-9F98-EAC4AD15D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2.4. Valorisation des données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C40985-42C0-B340-A8D6-D7D81CC5D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1" dirty="0"/>
              <a:t>Valorisation</a:t>
            </a:r>
            <a:r>
              <a:rPr lang="fr-FR" dirty="0"/>
              <a:t>. Les données ne sont pas des biens. Mais on peut valoriser l’accès à des plateformes. </a:t>
            </a:r>
          </a:p>
          <a:p>
            <a:r>
              <a:rPr lang="fr-FR" dirty="0"/>
              <a:t>2 modes de valorisation</a:t>
            </a:r>
          </a:p>
          <a:p>
            <a:pPr lvl="1"/>
            <a:r>
              <a:rPr lang="fr-FR" dirty="0"/>
              <a:t>Cout de création et de maintenance. </a:t>
            </a:r>
          </a:p>
          <a:p>
            <a:pPr lvl="1"/>
            <a:r>
              <a:rPr lang="fr-FR" dirty="0"/>
              <a:t>Bénéfices espérés. </a:t>
            </a:r>
          </a:p>
          <a:p>
            <a:r>
              <a:rPr lang="fr-FR" dirty="0"/>
              <a:t>L’UE a tranché pour le coût de maintenance pour laisser accéder les chercheurs. </a:t>
            </a:r>
          </a:p>
          <a:p>
            <a:r>
              <a:rPr lang="fr-FR" dirty="0"/>
              <a:t>Mais empiriquement, on ne sait rien sur les contrats passés entre les entreprises et les entrepôts</a:t>
            </a:r>
            <a:r>
              <a:rPr lang="fr-FR" b="1" dirty="0"/>
              <a:t>. </a:t>
            </a:r>
          </a:p>
          <a:p>
            <a:r>
              <a:rPr lang="fr-FR" b="1" dirty="0"/>
              <a:t>Recommandations </a:t>
            </a:r>
            <a:r>
              <a:rPr lang="fr-FR" dirty="0"/>
              <a:t>: </a:t>
            </a:r>
          </a:p>
          <a:p>
            <a:pPr lvl="1"/>
            <a:r>
              <a:rPr lang="fr-FR" dirty="0"/>
              <a:t>Valorisation au coût de maintenance avec éventuellement des tarifs différents selon les acteurs. </a:t>
            </a:r>
          </a:p>
          <a:p>
            <a:pPr lvl="1"/>
            <a:r>
              <a:rPr lang="fr-FR" dirty="0"/>
              <a:t>Inciter les entreprises qui rencontrent le succès de reverser une partie de leur bénéfice à la plateforme, par la signature d’une charte engageant leur réputation.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192406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E9F74C-295D-A341-A364-108030F77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2.5. 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E86F0B6-B6F9-FE4C-85D3-D6EEBA4D7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/>
              <a:t>La santé progresse avec les données de santé, cela ressemble à une question hautement technique. </a:t>
            </a:r>
          </a:p>
          <a:p>
            <a:r>
              <a:rPr lang="fr-FR" dirty="0"/>
              <a:t>Mais elles questionnent en fait très profondément la démocratie : </a:t>
            </a:r>
          </a:p>
          <a:p>
            <a:pPr lvl="1"/>
            <a:r>
              <a:rPr lang="fr-FR" dirty="0"/>
              <a:t>Expression de la volonté et du consentement des patients</a:t>
            </a:r>
          </a:p>
          <a:p>
            <a:pPr lvl="1"/>
            <a:r>
              <a:rPr lang="fr-FR" dirty="0"/>
              <a:t>Exercice de la souveraineté nationale</a:t>
            </a:r>
          </a:p>
          <a:p>
            <a:pPr lvl="1"/>
            <a:r>
              <a:rPr lang="fr-FR" dirty="0"/>
              <a:t>Distribution équitable de la valeur </a:t>
            </a:r>
          </a:p>
          <a:p>
            <a:r>
              <a:rPr lang="fr-FR" dirty="0"/>
              <a:t>Les instances éthiques établies par l’Etat de droit participent à la recherche d’un équilibre entre. </a:t>
            </a:r>
          </a:p>
          <a:p>
            <a:pPr lvl="1"/>
            <a:r>
              <a:rPr lang="fr-FR" dirty="0"/>
              <a:t>l’ouverture des données pour le développement de la science et des entreprises nationales. </a:t>
            </a:r>
          </a:p>
          <a:p>
            <a:pPr lvl="1"/>
            <a:r>
              <a:rPr lang="fr-FR" dirty="0"/>
              <a:t>La protection des utilisateurs de soin et le développement d’une atmosphère de confiance concernant l’usage des données de santé. </a:t>
            </a:r>
          </a:p>
          <a:p>
            <a:r>
              <a:rPr lang="fr-FR" dirty="0"/>
              <a:t>Avec l’IA on va revenir sur cette place de l’Etat de droit.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273394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BE6EF4-3201-31D4-6450-29A81DB10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3. Quel contrôle pour l’intelligence artificielle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B6CDF46-28E9-6E8E-5D4B-328F21CEE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Coup  de semonce quand </a:t>
            </a:r>
            <a:r>
              <a:rPr lang="fr-FR" dirty="0" err="1"/>
              <a:t>ChatGPT</a:t>
            </a:r>
            <a:r>
              <a:rPr lang="fr-FR" dirty="0"/>
              <a:t> a été rendu public. IA générative existait déjà depuis plusieurs années. </a:t>
            </a:r>
          </a:p>
          <a:p>
            <a:r>
              <a:rPr lang="fr-FR" dirty="0"/>
              <a:t>Effet très important dans le monde médical : qui établit les diagnostic et donc en prend la responsabilité ? Le médecin est-il encore utile quand la machine semble pouvoir le remplacer ? </a:t>
            </a:r>
          </a:p>
          <a:p>
            <a:r>
              <a:rPr lang="fr-FR" dirty="0"/>
              <a:t>Proposition “to pause </a:t>
            </a:r>
            <a:r>
              <a:rPr lang="fr-FR" dirty="0" err="1"/>
              <a:t>giant</a:t>
            </a:r>
            <a:r>
              <a:rPr lang="fr-FR" dirty="0"/>
              <a:t> AI </a:t>
            </a:r>
            <a:r>
              <a:rPr lang="fr-FR" dirty="0" err="1"/>
              <a:t>experiments</a:t>
            </a:r>
            <a:r>
              <a:rPr lang="fr-FR" dirty="0"/>
              <a:t>” par l’Institute Future of Life in March 2023</a:t>
            </a:r>
          </a:p>
          <a:p>
            <a:r>
              <a:rPr lang="fr-FR" dirty="0"/>
              <a:t>Débat très intéressant dans </a:t>
            </a:r>
            <a:r>
              <a:rPr lang="fr-FR" i="1" dirty="0"/>
              <a:t>le Monde </a:t>
            </a:r>
            <a:r>
              <a:rPr lang="fr-FR" dirty="0"/>
              <a:t>entre deux grands experts de l’IA générative, </a:t>
            </a:r>
            <a:r>
              <a:rPr lang="fr-FR" dirty="0" err="1"/>
              <a:t>Yoshua</a:t>
            </a:r>
            <a:r>
              <a:rPr lang="fr-FR" dirty="0"/>
              <a:t> Bengio et Yann Le </a:t>
            </a:r>
            <a:r>
              <a:rPr lang="fr-FR" dirty="0" err="1"/>
              <a:t>Cun</a:t>
            </a:r>
            <a:r>
              <a:rPr lang="fr-FR" dirty="0"/>
              <a:t>, qui sont amis et collaborateurs et ont tous deux reçu en 2018 le prix Turing équivalent au Nobel de l’informatique. Ils ont des idées très différentes. </a:t>
            </a:r>
          </a:p>
        </p:txBody>
      </p:sp>
    </p:spTree>
    <p:extLst>
      <p:ext uri="{BB962C8B-B14F-4D97-AF65-F5344CB8AC3E}">
        <p14:creationId xmlns:p14="http://schemas.microsoft.com/office/powerpoint/2010/main" val="18754712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rédit photo: Maryse Boyce">
            <a:extLst>
              <a:ext uri="{FF2B5EF4-FFF2-40B4-BE49-F238E27FC236}">
                <a16:creationId xmlns:a16="http://schemas.microsoft.com/office/drawing/2014/main" id="{6A462F70-0F4B-4595-77AA-19A8DB4F0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0" y="-1"/>
            <a:ext cx="8128000" cy="5890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9768EF28-BA26-B07A-3A79-6D95F1A32FAC}"/>
              </a:ext>
            </a:extLst>
          </p:cNvPr>
          <p:cNvSpPr txBox="1"/>
          <p:nvPr/>
        </p:nvSpPr>
        <p:spPr>
          <a:xfrm>
            <a:off x="3310247" y="6047946"/>
            <a:ext cx="60979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 err="1"/>
              <a:t>Yoshua</a:t>
            </a:r>
            <a:r>
              <a:rPr lang="fr-FR" b="1" dirty="0"/>
              <a:t> Bengio, chercheur : « Aujourd’hui, l’intelligence artificielle, c’est le Far West ! Nous devons ralentir et réguler »</a:t>
            </a:r>
          </a:p>
        </p:txBody>
      </p:sp>
    </p:spTree>
    <p:extLst>
      <p:ext uri="{BB962C8B-B14F-4D97-AF65-F5344CB8AC3E}">
        <p14:creationId xmlns:p14="http://schemas.microsoft.com/office/powerpoint/2010/main" val="10444960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FA6D90-132D-8E79-07A7-E6DDFEC97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3.1. Contrôle éthique de l’IA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BB67AC-417A-BD25-1F4C-215502720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dirty="0" err="1"/>
              <a:t>Yoshua</a:t>
            </a:r>
            <a:r>
              <a:rPr lang="fr-FR" dirty="0"/>
              <a:t> Bengio a signé la lettre demandant une « pause pour l’IA ». </a:t>
            </a:r>
          </a:p>
          <a:p>
            <a:r>
              <a:rPr lang="fr-FR" dirty="0"/>
              <a:t>Pour lui, </a:t>
            </a:r>
            <a:r>
              <a:rPr lang="fr-FR" dirty="0" err="1"/>
              <a:t>ChatGPT</a:t>
            </a:r>
            <a:r>
              <a:rPr lang="fr-FR" dirty="0"/>
              <a:t> passe le test de Turing. Très compétent et c’est ca le danger. </a:t>
            </a:r>
          </a:p>
          <a:p>
            <a:r>
              <a:rPr lang="fr-FR" dirty="0"/>
              <a:t>Il faut de l’éthique pour parer à ces dangers. </a:t>
            </a:r>
          </a:p>
          <a:p>
            <a:r>
              <a:rPr lang="fr-FR" dirty="0"/>
              <a:t>Désinformation et donc ébranlement de la démocratie. </a:t>
            </a:r>
          </a:p>
          <a:p>
            <a:r>
              <a:rPr lang="fr-FR" dirty="0"/>
              <a:t>Risques militaires, risques sur l’emploi. </a:t>
            </a:r>
          </a:p>
          <a:p>
            <a:r>
              <a:rPr lang="fr-FR" dirty="0"/>
              <a:t>L’IA générative reste une boîte noire dans la mesure où les résultats fournis comportent toujours quelque chose d’imprévisible. </a:t>
            </a:r>
          </a:p>
          <a:p>
            <a:r>
              <a:rPr lang="fr-FR" dirty="0" err="1"/>
              <a:t>ChatGPT</a:t>
            </a:r>
            <a:r>
              <a:rPr lang="fr-FR" dirty="0"/>
              <a:t> premier pas vers des systèmes qui auraient véritablement une conscience. Il faut réfléchir à ce que nous voulons pour l’humanité. Arguments proche de ceux de Hans Jonas. </a:t>
            </a:r>
          </a:p>
          <a:p>
            <a:r>
              <a:rPr lang="fr-FR" dirty="0"/>
              <a:t>De nombreuses organisations ont déjà publié des recommandations sur l’IA. Il faut accélérer ce mouvement. 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671777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6" name="Picture 52">
            <a:extLst>
              <a:ext uri="{FF2B5EF4-FFF2-40B4-BE49-F238E27FC236}">
                <a16:creationId xmlns:a16="http://schemas.microsoft.com/office/drawing/2014/main" id="{45839E5A-48F1-8C2D-8DF5-91046621B3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991" y="83128"/>
            <a:ext cx="8399714" cy="5569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ZoneTexte 27">
            <a:extLst>
              <a:ext uri="{FF2B5EF4-FFF2-40B4-BE49-F238E27FC236}">
                <a16:creationId xmlns:a16="http://schemas.microsoft.com/office/drawing/2014/main" id="{DB728181-7DC5-4CF9-7FE0-4141E7E33F62}"/>
              </a:ext>
            </a:extLst>
          </p:cNvPr>
          <p:cNvSpPr txBox="1"/>
          <p:nvPr/>
        </p:nvSpPr>
        <p:spPr>
          <a:xfrm>
            <a:off x="3286497" y="5851542"/>
            <a:ext cx="60979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Yann Le </a:t>
            </a:r>
            <a:r>
              <a:rPr lang="fr-FR" b="1" dirty="0" err="1"/>
              <a:t>Cun</a:t>
            </a:r>
            <a:r>
              <a:rPr lang="fr-FR" b="1" dirty="0"/>
              <a:t>, directeur à Meta : « L’idée même de vouloir ralentir la recherche sur l’IA s’apparente à un nouvel obscurantisme »</a:t>
            </a:r>
          </a:p>
        </p:txBody>
      </p:sp>
    </p:spTree>
    <p:extLst>
      <p:ext uri="{BB962C8B-B14F-4D97-AF65-F5344CB8AC3E}">
        <p14:creationId xmlns:p14="http://schemas.microsoft.com/office/powerpoint/2010/main" val="29387747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4A2F11-2E07-A279-2B84-BEE676B55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3.2. Contrôle légal de l’IA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562F3B4-DD2A-B4A2-9BB3-AF8B1F7EE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dirty="0"/>
              <a:t>Yann Le </a:t>
            </a:r>
            <a:r>
              <a:rPr lang="fr-FR" dirty="0" err="1"/>
              <a:t>Cun</a:t>
            </a:r>
            <a:r>
              <a:rPr lang="fr-FR" dirty="0"/>
              <a:t>. Directeur de la recherche chez Facebook. </a:t>
            </a:r>
          </a:p>
          <a:p>
            <a:r>
              <a:rPr lang="fr-FR" dirty="0" err="1"/>
              <a:t>ChatGPT</a:t>
            </a:r>
            <a:r>
              <a:rPr lang="fr-FR" dirty="0"/>
              <a:t> n’est pas révolutionnaire et reprend d’anciens outil. A appris sur presque tous les mots du web à calculer la probabilité d’apparition d’un mot après un autre mot et écrit ainsi. </a:t>
            </a:r>
          </a:p>
          <a:p>
            <a:r>
              <a:rPr lang="fr-FR" dirty="0"/>
              <a:t>Ces outils sont très utiles, ils permette d’accélérer l’écriture de textes. Il faut juste que les utilisateurs sachent qu’il faut vérifier ce que les systèmes disent. </a:t>
            </a:r>
          </a:p>
          <a:p>
            <a:r>
              <a:rPr lang="fr-FR" dirty="0"/>
              <a:t>Mais </a:t>
            </a:r>
            <a:r>
              <a:rPr lang="fr-FR" dirty="0" err="1"/>
              <a:t>ChatGPT</a:t>
            </a:r>
            <a:r>
              <a:rPr lang="fr-FR" dirty="0"/>
              <a:t> peut créer des fausses informations. La désinformation n’est pas un problème car celle-ci ne dépend pas de la production d’information, mais de très large diffusion de cette dernière. « La production ne contribue pas à la dissémination ». </a:t>
            </a:r>
          </a:p>
          <a:p>
            <a:r>
              <a:rPr lang="fr-FR" dirty="0"/>
              <a:t>« Le public va devenir plus méfiant » à l’égard des informations qu’il reçoit. Des technologies vont émerger qui traceront l’origine des informations. On aura comme des anti-spam. Les outils de modération sont eux-mêmes de l’IA. « En matière de désinformation, l’IA n’est pas le problème mais la solution ». </a:t>
            </a:r>
          </a:p>
          <a:p>
            <a:r>
              <a:rPr lang="fr-FR" dirty="0"/>
              <a:t>Pourtant « Il ne fait pour moi aucun doute qu’il faut réglementer le déploiement de l’IA. » Sinon risque de danger pour le public – surtout en médecine. Et marché réduit à un oligopole (GAFAM) non efficace. </a:t>
            </a:r>
          </a:p>
          <a:p>
            <a:r>
              <a:rPr lang="fr-FR" dirty="0"/>
              <a:t>Donc là aussi régulation, mais pas de nature éthique, de nature juridique.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318092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193357-D2C7-021F-D6DD-06F3D5ECF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3.3 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7B3085-1C8D-405E-75D6-FCF38E35B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Sur les progrès de l’IA différentes positions concernant ses effets, surtout sur la médecine : nature humaine est en jeu ou système de soin. </a:t>
            </a:r>
          </a:p>
          <a:p>
            <a:r>
              <a:rPr lang="fr-FR" dirty="0"/>
              <a:t>Mais toutes sont pour un contrôle, une surveillance (</a:t>
            </a:r>
            <a:r>
              <a:rPr lang="fr-FR" dirty="0" err="1"/>
              <a:t>oversight</a:t>
            </a:r>
            <a:r>
              <a:rPr lang="fr-FR" dirty="0"/>
              <a:t>).</a:t>
            </a:r>
          </a:p>
          <a:p>
            <a:pPr lvl="1"/>
            <a:r>
              <a:rPr lang="fr-FR" dirty="0"/>
              <a:t>De nature éthique quand  on pense que la nature humaine est en jeu</a:t>
            </a:r>
          </a:p>
          <a:p>
            <a:pPr lvl="1"/>
            <a:r>
              <a:rPr lang="fr-FR" dirty="0"/>
              <a:t>De nature juridique quand on pense que ce sont les marchés ou les systèmes de soins qui sont en jeu. </a:t>
            </a:r>
          </a:p>
          <a:p>
            <a:r>
              <a:rPr lang="fr-FR" dirty="0"/>
              <a:t>Paradoxalement on découvre que l’IA fait une place nécessaire à l’autorité politique – et donc démocratique : celui de la surveillance. 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44504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1A6EA0-A65B-E94D-0974-9E5B95B66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 générale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12E3A6-7F71-67DA-477F-418328FE3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/>
              <a:t>Nous avons trois modèles qui montrent l’implication nécessaire de la démocratie, du numérique et de la santé aujourd’hui. </a:t>
            </a:r>
          </a:p>
          <a:p>
            <a:r>
              <a:rPr lang="fr-FR" dirty="0"/>
              <a:t>La génomique nous a montré que les formats démocratiques, conforment l’exercice de ma médecine dans les rapports patients, médecin experts, technologie numérique. </a:t>
            </a:r>
          </a:p>
          <a:p>
            <a:r>
              <a:rPr lang="fr-FR" dirty="0"/>
              <a:t>Le cas des bases de données est différentes : le numérique en santé secoue aussi la démocratie dans ses assises habituelles et force à reposer certaines grandes questions (souveraineté, équité). </a:t>
            </a:r>
          </a:p>
          <a:p>
            <a:r>
              <a:rPr lang="fr-FR" dirty="0"/>
              <a:t>Enfin le cas de l’IA nous montre que les acteurs réclament qu’un contrôle démocratique soit exercé sur les avancées du numérique en santé. Que ce contrôle soit éthique – Comité consultatif – ou légal. </a:t>
            </a:r>
          </a:p>
          <a:p>
            <a:r>
              <a:rPr lang="fr-FR" dirty="0"/>
              <a:t>La technologies numériques ont une « agentivité » propre, mais les acteurs humains – du simple patient au décideur - sont requis d’intervenir. </a:t>
            </a:r>
          </a:p>
        </p:txBody>
      </p:sp>
    </p:spTree>
    <p:extLst>
      <p:ext uri="{BB962C8B-B14F-4D97-AF65-F5344CB8AC3E}">
        <p14:creationId xmlns:p14="http://schemas.microsoft.com/office/powerpoint/2010/main" val="34030969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7450</TotalTime>
  <Words>2264</Words>
  <Application>Microsoft Macintosh PowerPoint</Application>
  <PresentationFormat>Grand écran</PresentationFormat>
  <Paragraphs>140</Paragraphs>
  <Slides>19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Verdana</vt:lpstr>
      <vt:lpstr>Thème Office</vt:lpstr>
      <vt:lpstr>Démocratie, santé, numérique</vt:lpstr>
      <vt:lpstr>Introduction</vt:lpstr>
      <vt:lpstr>1. Génomique et démocratie</vt:lpstr>
      <vt:lpstr>1.1. Médecine personnalisée</vt:lpstr>
      <vt:lpstr>1.2. Médecine de précision</vt:lpstr>
      <vt:lpstr>1.3. Conclusion</vt:lpstr>
      <vt:lpstr>2. Politiques des plateformes de données de santé</vt:lpstr>
      <vt:lpstr>2.1. Questions liées à la construction technique des plateformes. </vt:lpstr>
      <vt:lpstr>2.2.  Transformations du consentement</vt:lpstr>
      <vt:lpstr>2.3. - Souveraineté sur des données. </vt:lpstr>
      <vt:lpstr>2.4. Valorisation des données</vt:lpstr>
      <vt:lpstr>2.5. Conclusion</vt:lpstr>
      <vt:lpstr>3. Quel contrôle pour l’intelligence artificielle</vt:lpstr>
      <vt:lpstr>Présentation PowerPoint</vt:lpstr>
      <vt:lpstr>3.1. Contrôle éthique de l’IA</vt:lpstr>
      <vt:lpstr>Présentation PowerPoint</vt:lpstr>
      <vt:lpstr>3.2. Contrôle légal de l’IA</vt:lpstr>
      <vt:lpstr>3.3 Conclusion</vt:lpstr>
      <vt:lpstr>Conclusion générale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Démocratie, santé, numérique</dc:title>
  <dc:creator>Microsoft Office User</dc:creator>
  <cp:lastModifiedBy>Microsoft Office User</cp:lastModifiedBy>
  <cp:revision>9</cp:revision>
  <dcterms:created xsi:type="dcterms:W3CDTF">2024-01-23T14:18:11Z</dcterms:created>
  <dcterms:modified xsi:type="dcterms:W3CDTF">2025-05-16T10:15:08Z</dcterms:modified>
</cp:coreProperties>
</file>